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notesMasterIdLst>
    <p:notesMasterId r:id="rId11"/>
  </p:notesMasterIdLst>
  <p:sldIdLst>
    <p:sldId id="271" r:id="rId2"/>
    <p:sldId id="256" r:id="rId3"/>
    <p:sldId id="263" r:id="rId4"/>
    <p:sldId id="264" r:id="rId5"/>
    <p:sldId id="265" r:id="rId6"/>
    <p:sldId id="266" r:id="rId7"/>
    <p:sldId id="267" r:id="rId8"/>
    <p:sldId id="268" r:id="rId9"/>
    <p:sldId id="269" r:id="rId10"/>
  </p:sldIdLst>
  <p:sldSz cx="9144000" cy="5143500" type="screen16x9"/>
  <p:notesSz cx="5143500" cy="9144000"/>
  <p:embeddedFontLst>
    <p:embeddedFont>
      <p:font typeface="Fira Sans" panose="020B0604020202020204" charset="0"/>
      <p:regular r:id="rId12"/>
    </p:embeddedFont>
    <p:embeddedFont>
      <p:font typeface="Calibri" panose="020F0502020204030204" pitchFamily="34" charset="0"/>
      <p:regular r:id="rId13"/>
      <p:bold r:id="rId14"/>
      <p:italic r:id="rId15"/>
      <p:boldItalic r:id="rId16"/>
    </p:embeddedFont>
    <p:embeddedFont>
      <p:font typeface="Inconsolata Bold" panose="00000509000000000000" pitchFamily="49" charset="0"/>
      <p:bold r:id="rId17"/>
    </p:embeddedFont>
    <p:embeddedFont>
      <p:font typeface="SimSun" panose="02010600030101010101" pitchFamily="2" charset="-122"/>
      <p:regular r:id="rId18"/>
    </p:embeddedFont>
    <p:embeddedFont>
      <p:font typeface="Consolas" panose="020B0609020204030204" pitchFamily="49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16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3" d="100"/>
          <a:sy n="123" d="100"/>
        </p:scale>
        <p:origin x="298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10.fntdata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font" Target="fonts/font1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13797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278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0344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02078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24362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09831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0C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1631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0C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1631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0C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1631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0C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1631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0C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1631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0C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1631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0C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1631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0C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1631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0C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1631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0C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1631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indexprofile.html" TargetMode="External"/><Relationship Id="rId3" Type="http://schemas.openxmlformats.org/officeDocument/2006/relationships/image" Target="../media/image9.png"/><Relationship Id="rId7" Type="http://schemas.openxmlformats.org/officeDocument/2006/relationships/hyperlink" Target="indexupload.html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hyperlink" Target="indexlibrary.html" TargetMode="External"/><Relationship Id="rId5" Type="http://schemas.openxmlformats.org/officeDocument/2006/relationships/hyperlink" Target="index.html" TargetMode="Externa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1334765"/>
            <a:ext cx="5361831" cy="775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50"/>
              </a:lnSpc>
              <a:buNone/>
            </a:pPr>
            <a:r>
              <a:rPr lang="en-US" sz="2400" b="1" dirty="0">
                <a:solidFill>
                  <a:srgbClr val="F94CAF"/>
                </a:solidFill>
                <a:latin typeface="Inconsolata Bold" pitchFamily="34" charset="0"/>
                <a:ea typeface="Inconsolata Bold" pitchFamily="34" charset="-122"/>
                <a:cs typeface="Inconsolata Bold" pitchFamily="34" charset="-120"/>
              </a:rPr>
              <a:t>Курсавая работа:Разработка системы загрузки музыки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96119" y="2159422"/>
            <a:ext cx="5361831" cy="390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50"/>
              </a:lnSpc>
              <a:buNone/>
            </a:pPr>
            <a:r>
              <a:rPr lang="en-US" sz="2400" b="1" dirty="0">
                <a:solidFill>
                  <a:srgbClr val="F94CAF"/>
                </a:solidFill>
                <a:latin typeface="Inconsolata Bold" pitchFamily="34" charset="0"/>
                <a:ea typeface="Inconsolata Bold" pitchFamily="34" charset="-122"/>
                <a:cs typeface="Inconsolata Bold" pitchFamily="34" charset="-120"/>
              </a:rPr>
              <a:t>Предмет:Веб-системы и технологии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96119" y="2561092"/>
            <a:ext cx="5202882" cy="387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50"/>
              </a:lnSpc>
              <a:buNone/>
            </a:pPr>
            <a:r>
              <a:rPr lang="en-US" sz="2400" b="1" dirty="0">
                <a:solidFill>
                  <a:srgbClr val="F94CAF"/>
                </a:solidFill>
                <a:latin typeface="Inconsolata Bold" pitchFamily="34" charset="0"/>
                <a:ea typeface="Inconsolata Bold" pitchFamily="34" charset="-122"/>
                <a:cs typeface="Inconsolata Bold" pitchFamily="34" charset="-120"/>
              </a:rPr>
              <a:t>Преподаватель:Халилов М. Э.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96119" y="2998201"/>
            <a:ext cx="4517008" cy="387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50"/>
              </a:lnSpc>
              <a:buNone/>
            </a:pPr>
            <a:r>
              <a:rPr lang="en-US" sz="2400" b="1" dirty="0">
                <a:solidFill>
                  <a:srgbClr val="F94CAF"/>
                </a:solidFill>
                <a:latin typeface="Inconsolata Bold" pitchFamily="34" charset="0"/>
                <a:ea typeface="Inconsolata Bold" pitchFamily="34" charset="-122"/>
                <a:cs typeface="Inconsolata Bold" pitchFamily="34" charset="-120"/>
              </a:rPr>
              <a:t>Студент:Cафаров Джошгун</a:t>
            </a:r>
            <a:endParaRPr lang="en-US" sz="24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5279" y="1417886"/>
            <a:ext cx="2307654" cy="2307654"/>
          </a:xfrm>
          <a:prstGeom prst="rect">
            <a:avLst/>
          </a:prstGeom>
        </p:spPr>
      </p:pic>
      <p:sp>
        <p:nvSpPr>
          <p:cNvPr id="7" name="Скругленный прямоугольник 6"/>
          <p:cNvSpPr/>
          <p:nvPr/>
        </p:nvSpPr>
        <p:spPr>
          <a:xfrm>
            <a:off x="8055429" y="4883020"/>
            <a:ext cx="1007706" cy="192833"/>
          </a:xfrm>
          <a:prstGeom prst="roundRect">
            <a:avLst/>
          </a:prstGeom>
          <a:solidFill>
            <a:srgbClr val="241631"/>
          </a:solidFill>
          <a:ln>
            <a:solidFill>
              <a:srgbClr val="24163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3206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96119" y="929878"/>
            <a:ext cx="4722763" cy="775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50"/>
              </a:lnSpc>
              <a:buNone/>
            </a:pPr>
            <a:r>
              <a:rPr lang="en-US" sz="2400" b="1" dirty="0">
                <a:solidFill>
                  <a:srgbClr val="F94CAF"/>
                </a:solidFill>
                <a:latin typeface="Inconsolata Bold" panose="00000509000000000000" pitchFamily="49" charset="0"/>
                <a:ea typeface="SimSun" panose="02010600030101010101" pitchFamily="2" charset="-122"/>
                <a:cs typeface="Inconsolata Bold" pitchFamily="34" charset="-120"/>
              </a:rPr>
              <a:t>Введение в Web и Web‑серверы</a:t>
            </a:r>
            <a:endParaRPr lang="en-US" sz="2400" dirty="0">
              <a:latin typeface="Inconsolata Bold" panose="00000509000000000000" pitchFamily="49" charset="0"/>
            </a:endParaRPr>
          </a:p>
        </p:txBody>
      </p:sp>
      <p:sp>
        <p:nvSpPr>
          <p:cNvPr id="4" name="Text 1"/>
          <p:cNvSpPr/>
          <p:nvPr/>
        </p:nvSpPr>
        <p:spPr>
          <a:xfrm>
            <a:off x="496119" y="1891010"/>
            <a:ext cx="4722763" cy="11907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950" dirty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Вся информация в Интернете хранится на специальных компьютерах — Web‑серверах, которые обрабатывают запросы и передают содержимое пользователям. Основная форма представления — Web‑сайты с уникальными доменными именами и URL. Сайт состоит из взаимосвязанных Web‑страниц, обычно HTML‑файлов (.htm/.html), содержащих структуру и инструкции для отображения: текст, изображения, таблицы, списки и элементы интерфейса.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496119" y="3221310"/>
            <a:ext cx="4722763" cy="992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950" dirty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Мультимедиа (изображения, видео, аудио) подключается к HTML через ссылки. Для просмотра сайтов используются браузеры — программы, интерпретирующие HTML и отображающие контент. Чтобы открыть сайт, вводят его адрес в адресной строке браузера, после чего страница загружается с сервера.</a:t>
            </a:r>
            <a:endParaRPr lang="en-US" sz="950" dirty="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8055429" y="4883020"/>
            <a:ext cx="1007706" cy="192833"/>
          </a:xfrm>
          <a:prstGeom prst="roundRect">
            <a:avLst/>
          </a:prstGeom>
          <a:solidFill>
            <a:srgbClr val="241631"/>
          </a:solidFill>
          <a:ln>
            <a:solidFill>
              <a:srgbClr val="24163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925119" y="1594991"/>
            <a:ext cx="4722763" cy="775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50"/>
              </a:lnSpc>
              <a:buNone/>
            </a:pPr>
            <a:r>
              <a:rPr lang="en-US" sz="2400" b="1" dirty="0">
                <a:solidFill>
                  <a:srgbClr val="F94CAF"/>
                </a:solidFill>
                <a:latin typeface="Inconsolata Bold" panose="00000509000000000000" pitchFamily="49" charset="0"/>
                <a:ea typeface="SimSun" panose="02010600030101010101" pitchFamily="2" charset="-122"/>
                <a:cs typeface="Inconsolata Bold" pitchFamily="34" charset="-120"/>
              </a:rPr>
              <a:t>HTML — язык структуры Web‑страниц</a:t>
            </a:r>
            <a:endParaRPr lang="en-US" sz="2400" dirty="0">
              <a:latin typeface="Inconsolata Bold" panose="00000509000000000000" pitchFamily="49" charset="0"/>
            </a:endParaRPr>
          </a:p>
        </p:txBody>
      </p:sp>
      <p:sp>
        <p:nvSpPr>
          <p:cNvPr id="4" name="Text 1"/>
          <p:cNvSpPr/>
          <p:nvPr/>
        </p:nvSpPr>
        <p:spPr>
          <a:xfrm>
            <a:off x="3925119" y="2556123"/>
            <a:ext cx="4722763" cy="992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950" dirty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HTML (HyperText Markup Language) — основной язык разметки для создания структуры Web‑страниц. Теги (например, &lt;h1&gt;, &lt;p&gt;, &lt;img&gt;) указывают браузеру, как отображать содержимое. HTML не содержит медиафайлов или стилей, а лишь ссылки на них, что делает файлы лёгкими и разделяет структуру, оформление и логику.</a:t>
            </a:r>
            <a:endParaRPr lang="en-US" sz="950" dirty="0"/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8055429" y="4883020"/>
            <a:ext cx="1007706" cy="192833"/>
          </a:xfrm>
          <a:prstGeom prst="roundRect">
            <a:avLst/>
          </a:prstGeom>
          <a:solidFill>
            <a:srgbClr val="241631"/>
          </a:solidFill>
          <a:ln>
            <a:solidFill>
              <a:srgbClr val="24163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925119" y="1396529"/>
            <a:ext cx="4722763" cy="775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50"/>
              </a:lnSpc>
              <a:buNone/>
            </a:pPr>
            <a:r>
              <a:rPr lang="en-US" sz="2400" b="1" dirty="0">
                <a:solidFill>
                  <a:srgbClr val="F94CAF"/>
                </a:solidFill>
                <a:latin typeface="Inconsolata Bold" panose="00000509000000000000" pitchFamily="49" charset="0"/>
                <a:ea typeface="SimSun" panose="02010600030101010101" pitchFamily="2" charset="-122"/>
                <a:cs typeface="Inconsolata Bold" pitchFamily="34" charset="-120"/>
              </a:rPr>
              <a:t>CSS — оформление и адаптивность</a:t>
            </a:r>
            <a:endParaRPr lang="en-US" sz="2400" dirty="0">
              <a:latin typeface="Inconsolata Bold" panose="00000509000000000000" pitchFamily="49" charset="0"/>
            </a:endParaRPr>
          </a:p>
        </p:txBody>
      </p:sp>
      <p:sp>
        <p:nvSpPr>
          <p:cNvPr id="4" name="Text 1"/>
          <p:cNvSpPr/>
          <p:nvPr/>
        </p:nvSpPr>
        <p:spPr>
          <a:xfrm>
            <a:off x="3925119" y="2357661"/>
            <a:ext cx="4722763" cy="1389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950" dirty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CSS (Cascading Style Sheets) описывает внешний вид HTML: цвета, шрифты, отступы, выравнивание, позиционирование и анимации. Стили подключаются тремя способами: внешние .css файлы (наиболее распространённый), внутренние &lt;style&gt; в &lt;head&gt; и встроенные атрибуты style. Каскадность означает, что при совпадении правил приоритет имеет последнее или ближе расположенное правило. Селекторы, псевдоклассы и медиазапросы позволяют создавать адаптивный дизайн.</a:t>
            </a:r>
            <a:endParaRPr lang="en-US" sz="950" dirty="0"/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8055429" y="4883020"/>
            <a:ext cx="1007706" cy="192833"/>
          </a:xfrm>
          <a:prstGeom prst="roundRect">
            <a:avLst/>
          </a:prstGeom>
          <a:solidFill>
            <a:srgbClr val="241631"/>
          </a:solidFill>
          <a:ln>
            <a:solidFill>
              <a:srgbClr val="24163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/>
          <p:cNvPicPr>
            <a:picLocks noChangeAspect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912557" y="2697559"/>
            <a:ext cx="365760" cy="365760"/>
          </a:xfrm>
          <a:prstGeom prst="rect">
            <a:avLst/>
          </a:prstGeom>
        </p:spPr>
      </p:pic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925119" y="443061"/>
            <a:ext cx="4722763" cy="1162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50"/>
              </a:lnSpc>
              <a:buNone/>
            </a:pPr>
            <a:r>
              <a:rPr lang="en-US" sz="2400" b="1" dirty="0">
                <a:solidFill>
                  <a:srgbClr val="F94CAF"/>
                </a:solidFill>
                <a:latin typeface="Inconsolata Bold" panose="00000509000000000000" pitchFamily="49" charset="0"/>
                <a:ea typeface="SimSun" panose="02010600030101010101" pitchFamily="2" charset="-122"/>
                <a:cs typeface="Inconsolata Bold" pitchFamily="34" charset="-120"/>
              </a:rPr>
              <a:t>Ajax и JavaScript — интерактивность без перезагрузки</a:t>
            </a:r>
            <a:endParaRPr lang="en-US" sz="2400" dirty="0">
              <a:latin typeface="Inconsolata Bold" panose="00000509000000000000" pitchFamily="49" charset="0"/>
            </a:endParaRPr>
          </a:p>
        </p:txBody>
      </p:sp>
      <p:sp>
        <p:nvSpPr>
          <p:cNvPr id="4" name="Text 1"/>
          <p:cNvSpPr/>
          <p:nvPr/>
        </p:nvSpPr>
        <p:spPr>
          <a:xfrm>
            <a:off x="3925119" y="1791742"/>
            <a:ext cx="4722763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950" dirty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Ajax (Asynchronous JavaScript and XML) позволяет обмениваться данными с сервером асинхронно, без полной перезагрузки страницы — это улучшает UX и снижает нагрузку на сервер. Ответы часто приходят в формате JSON и встраиваются в страницу с помощью JavaScript.</a:t>
            </a:r>
            <a:endParaRPr lang="en-US" sz="950" dirty="0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5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897280" y="3595495"/>
            <a:ext cx="365760" cy="3657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390206" y="2725117"/>
            <a:ext cx="155056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DAD1E6"/>
                </a:solidFill>
                <a:latin typeface="SimSun" panose="02010600030101010101" pitchFamily="2" charset="-122"/>
                <a:ea typeface="SimSun" panose="02010600030101010101" pitchFamily="2" charset="-122"/>
                <a:cs typeface="Inconsolata Bold" pitchFamily="34" charset="-120"/>
              </a:rPr>
              <a:t>Применения Ajax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4390206" y="2993380"/>
            <a:ext cx="4257675" cy="396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950" dirty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Автозаполнение форм, поиск и фильтрация без перезагрузки, обновление частей страницы (чаты, ленты новостей).</a:t>
            </a:r>
            <a:endParaRPr lang="en-US" sz="950" dirty="0"/>
          </a:p>
        </p:txBody>
      </p:sp>
      <p:sp>
        <p:nvSpPr>
          <p:cNvPr id="9" name="Text 4"/>
          <p:cNvSpPr/>
          <p:nvPr/>
        </p:nvSpPr>
        <p:spPr>
          <a:xfrm>
            <a:off x="4390206" y="3638327"/>
            <a:ext cx="155056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DAD1E6"/>
                </a:solidFill>
                <a:latin typeface="SimSun" panose="02010600030101010101" pitchFamily="2" charset="-122"/>
                <a:ea typeface="SimSun" panose="02010600030101010101" pitchFamily="2" charset="-122"/>
                <a:cs typeface="Inconsolata Bold" pitchFamily="34" charset="-120"/>
              </a:rPr>
              <a:t>Роль JavaScript</a:t>
            </a:r>
            <a:endParaRPr lang="en-US" sz="1200" dirty="0"/>
          </a:p>
        </p:txBody>
      </p:sp>
      <p:sp>
        <p:nvSpPr>
          <p:cNvPr id="10" name="Text 5"/>
          <p:cNvSpPr/>
          <p:nvPr/>
        </p:nvSpPr>
        <p:spPr>
          <a:xfrm>
            <a:off x="4390206" y="3906589"/>
            <a:ext cx="4257675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950" dirty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JavaScript делает страницы интерактивными: изменяет DOM, обрабатывает события, проверяет формы, выполняет анимации и работает с API через Ajax. Поддерживает ООП и расширяется библиотеками и фреймворками.</a:t>
            </a:r>
            <a:endParaRPr lang="en-US" sz="950" dirty="0"/>
          </a:p>
        </p:txBody>
      </p:sp>
      <p:sp>
        <p:nvSpPr>
          <p:cNvPr id="14" name="Скругленный прямоугольник 13"/>
          <p:cNvSpPr/>
          <p:nvPr/>
        </p:nvSpPr>
        <p:spPr>
          <a:xfrm>
            <a:off x="8055429" y="4883020"/>
            <a:ext cx="1007706" cy="192833"/>
          </a:xfrm>
          <a:prstGeom prst="roundRect">
            <a:avLst/>
          </a:prstGeom>
          <a:solidFill>
            <a:srgbClr val="241631"/>
          </a:solidFill>
          <a:ln>
            <a:solidFill>
              <a:srgbClr val="24163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775246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4500" y="209029"/>
            <a:ext cx="5715000" cy="35718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96119" y="2106662"/>
            <a:ext cx="7493347" cy="387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50"/>
              </a:lnSpc>
              <a:buNone/>
            </a:pPr>
            <a:r>
              <a:rPr lang="en-US" sz="2400" b="1" dirty="0">
                <a:solidFill>
                  <a:srgbClr val="F94CAF"/>
                </a:solidFill>
                <a:latin typeface="Inconsolata Bold" panose="00000509000000000000" pitchFamily="49" charset="0"/>
                <a:ea typeface="SimSun" panose="02010600030101010101" pitchFamily="2" charset="-122"/>
                <a:cs typeface="Inconsolata Bold" pitchFamily="34" charset="-120"/>
              </a:rPr>
              <a:t>MusicHub — структура заголовка и навигации</a:t>
            </a:r>
            <a:endParaRPr lang="en-US" sz="2400" dirty="0">
              <a:latin typeface="Inconsolata Bold" panose="00000509000000000000" pitchFamily="49" charset="0"/>
            </a:endParaRPr>
          </a:p>
        </p:txBody>
      </p:sp>
      <p:sp>
        <p:nvSpPr>
          <p:cNvPr id="5" name="Text 1"/>
          <p:cNvSpPr/>
          <p:nvPr/>
        </p:nvSpPr>
        <p:spPr>
          <a:xfrm>
            <a:off x="496119" y="2680246"/>
            <a:ext cx="8151763" cy="5953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950" dirty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В заголовке сайта создаются ключевые элементы: кликабельный логотип </a:t>
            </a:r>
            <a:r>
              <a:rPr lang="en-US" sz="950" u="sng" dirty="0">
                <a:solidFill>
                  <a:srgbClr val="F94CA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  <a:hlinkClick r:id="rId5">
                  <a:extLst>
                    <a:ext uri="{A12FA001-AC4F-418D-AE19-62706E023703}">
                      <ahyp:hlinkClr xmlns="" xmlns:ahyp="http://schemas.microsoft.com/office/drawing/2018/hyperlinkcolor" val="tx"/>
                    </a:ext>
                  </a:extLst>
                </a:hlinkClick>
              </a:rPr>
              <a:t>MusicHub</a:t>
            </a:r>
            <a:r>
              <a:rPr lang="en-US" sz="950" dirty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, строка поиска с полем ввода и кнопкой (с иконкой поиска), а также блок навигационных ссылок: </a:t>
            </a:r>
            <a:r>
              <a:rPr lang="en-US" sz="950" u="sng" dirty="0">
                <a:solidFill>
                  <a:srgbClr val="F94CA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  <a:hlinkClick r:id="rId5">
                  <a:extLst>
                    <a:ext uri="{A12FA001-AC4F-418D-AE19-62706E023703}">
                      <ahyp:hlinkClr xmlns="" xmlns:ahyp="http://schemas.microsoft.com/office/drawing/2018/hyperlinkcolor" val="tx"/>
                    </a:ext>
                  </a:extLst>
                </a:hlinkClick>
              </a:rPr>
              <a:t>Home</a:t>
            </a:r>
            <a:r>
              <a:rPr lang="en-US" sz="950" dirty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, </a:t>
            </a:r>
            <a:r>
              <a:rPr lang="en-US" sz="950" u="sng" dirty="0">
                <a:solidFill>
                  <a:srgbClr val="F94CA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  <a:hlinkClick r:id="rId6">
                  <a:extLst>
                    <a:ext uri="{A12FA001-AC4F-418D-AE19-62706E023703}">
                      <ahyp:hlinkClr xmlns="" xmlns:ahyp="http://schemas.microsoft.com/office/drawing/2018/hyperlinkcolor" val="tx"/>
                    </a:ext>
                  </a:extLst>
                </a:hlinkClick>
              </a:rPr>
              <a:t>Library</a:t>
            </a:r>
            <a:r>
              <a:rPr lang="en-US" sz="950" dirty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, </a:t>
            </a:r>
            <a:r>
              <a:rPr lang="en-US" sz="950" u="sng" dirty="0">
                <a:solidFill>
                  <a:srgbClr val="F94CA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  <a:hlinkClick r:id="rId7">
                  <a:extLst>
                    <a:ext uri="{A12FA001-AC4F-418D-AE19-62706E023703}">
                      <ahyp:hlinkClr xmlns="" xmlns:ahyp="http://schemas.microsoft.com/office/drawing/2018/hyperlinkcolor" val="tx"/>
                    </a:ext>
                  </a:extLst>
                </a:hlinkClick>
              </a:rPr>
              <a:t>Upload</a:t>
            </a:r>
            <a:r>
              <a:rPr lang="en-US" sz="950" dirty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, </a:t>
            </a:r>
            <a:r>
              <a:rPr lang="en-US" sz="950" u="sng" dirty="0">
                <a:solidFill>
                  <a:srgbClr val="F94CA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  <a:hlinkClick r:id="rId8">
                  <a:extLst>
                    <a:ext uri="{A12FA001-AC4F-418D-AE19-62706E023703}">
                      <ahyp:hlinkClr xmlns="" xmlns:ahyp="http://schemas.microsoft.com/office/drawing/2018/hyperlinkcolor" val="tx"/>
                    </a:ext>
                  </a:extLst>
                </a:hlinkClick>
              </a:rPr>
              <a:t>Profile</a:t>
            </a:r>
            <a:r>
              <a:rPr lang="en-US" sz="950" dirty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. Эти элементы формируют основную навигацию и доступность сайта.</a:t>
            </a:r>
            <a:endParaRPr lang="en-US" sz="950" dirty="0"/>
          </a:p>
        </p:txBody>
      </p:sp>
      <p:sp>
        <p:nvSpPr>
          <p:cNvPr id="6" name="Text 2"/>
          <p:cNvSpPr/>
          <p:nvPr/>
        </p:nvSpPr>
        <p:spPr>
          <a:xfrm>
            <a:off x="496119" y="3415159"/>
            <a:ext cx="8151763" cy="396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950" dirty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Изображение выше иллюстрирует желаемую визуальную иерархию: логотип слева, крупная округлая поисковая строка по центру и навигация справа — всё в фирменной фиолетово-розовой палитре.</a:t>
            </a:r>
            <a:endParaRPr lang="en-US" sz="950" dirty="0"/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8055429" y="4883020"/>
            <a:ext cx="1007706" cy="192833"/>
          </a:xfrm>
          <a:prstGeom prst="roundRect">
            <a:avLst/>
          </a:prstGeom>
          <a:solidFill>
            <a:srgbClr val="241631"/>
          </a:solidFill>
          <a:ln>
            <a:solidFill>
              <a:srgbClr val="24163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3725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759991"/>
            <a:ext cx="8151763" cy="775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50"/>
              </a:lnSpc>
              <a:buNone/>
            </a:pPr>
            <a:r>
              <a:rPr lang="en-US" sz="2400" b="1" dirty="0">
                <a:solidFill>
                  <a:srgbClr val="F94CAF"/>
                </a:solidFill>
                <a:latin typeface="Inconsolata Bold" panose="00000509000000000000" pitchFamily="49" charset="0"/>
                <a:ea typeface="SimSun" panose="02010600030101010101" pitchFamily="2" charset="-122"/>
                <a:cs typeface="Inconsolata Bold" pitchFamily="34" charset="-120"/>
              </a:rPr>
              <a:t>Карточки — визуальные и анимационные приёмы</a:t>
            </a:r>
            <a:endParaRPr lang="en-US" sz="2400" dirty="0">
              <a:latin typeface="Inconsolata Bold" panose="00000509000000000000" pitchFamily="49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96118" y="1198392"/>
            <a:ext cx="8151763" cy="1053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50"/>
              </a:lnSpc>
            </a:pPr>
            <a:r>
              <a:rPr lang="en-US" sz="950" dirty="0" err="1" smtClean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Каждая</a:t>
            </a:r>
            <a:r>
              <a:rPr lang="en-US" sz="950" dirty="0" smtClean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 </a:t>
            </a:r>
            <a:r>
              <a:rPr lang="en-US" sz="950" dirty="0" err="1" smtClean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карточка</a:t>
            </a:r>
            <a:r>
              <a:rPr lang="en-US" sz="950" dirty="0" smtClean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 </a:t>
            </a:r>
            <a:r>
              <a:rPr lang="en-US" sz="950" dirty="0" err="1" smtClean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трека</a:t>
            </a:r>
            <a:r>
              <a:rPr lang="en-US" sz="950" dirty="0" smtClean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 </a:t>
            </a:r>
            <a:r>
              <a:rPr lang="en-US" sz="950" dirty="0" err="1" smtClean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содержит</a:t>
            </a:r>
            <a:r>
              <a:rPr lang="en-US" sz="950" dirty="0" smtClean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 </a:t>
            </a:r>
            <a:r>
              <a:rPr lang="en-US" sz="950" dirty="0" err="1" smtClean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обложку</a:t>
            </a:r>
            <a:r>
              <a:rPr lang="en-US" sz="950" dirty="0" smtClean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, </a:t>
            </a:r>
            <a:r>
              <a:rPr lang="en-US" sz="950" dirty="0" err="1" smtClean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полупрозрачный</a:t>
            </a:r>
            <a:r>
              <a:rPr lang="en-US" sz="950" dirty="0" smtClean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 overlay с </a:t>
            </a:r>
            <a:r>
              <a:rPr lang="en-US" sz="950" dirty="0" err="1" smtClean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кнопкой</a:t>
            </a:r>
            <a:r>
              <a:rPr lang="en-US" sz="950" dirty="0" smtClean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 </a:t>
            </a:r>
            <a:r>
              <a:rPr lang="en-US" sz="950" dirty="0" err="1" smtClean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воспроизведения</a:t>
            </a:r>
            <a:r>
              <a:rPr lang="en-US" sz="950" dirty="0" smtClean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, </a:t>
            </a:r>
            <a:r>
              <a:rPr lang="en-US" sz="950" dirty="0" err="1" smtClean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заголовок</a:t>
            </a:r>
            <a:r>
              <a:rPr lang="en-US" sz="950" dirty="0" smtClean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 </a:t>
            </a:r>
            <a:r>
              <a:rPr lang="en-US" sz="950" dirty="0" err="1" smtClean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трека</a:t>
            </a:r>
            <a:r>
              <a:rPr lang="en-US" sz="950" dirty="0" smtClean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, </a:t>
            </a:r>
            <a:r>
              <a:rPr lang="en-US" sz="950" dirty="0" err="1" smtClean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имя</a:t>
            </a:r>
            <a:r>
              <a:rPr lang="en-US" sz="950" dirty="0" smtClean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 </a:t>
            </a:r>
            <a:r>
              <a:rPr lang="en-US" sz="950" dirty="0" err="1" smtClean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исполнителя</a:t>
            </a:r>
            <a:r>
              <a:rPr lang="en-US" sz="950" dirty="0" smtClean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, </a:t>
            </a:r>
            <a:r>
              <a:rPr lang="en-US" sz="950" dirty="0" err="1" smtClean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длительность</a:t>
            </a:r>
            <a:r>
              <a:rPr lang="en-US" sz="950" dirty="0" smtClean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 и </a:t>
            </a:r>
            <a:r>
              <a:rPr lang="en-US" sz="950" dirty="0" err="1" smtClean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метаданные</a:t>
            </a:r>
            <a:r>
              <a:rPr lang="en-US" sz="950" dirty="0" smtClean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 </a:t>
            </a:r>
            <a:r>
              <a:rPr lang="en-US" sz="950" dirty="0" err="1" smtClean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файла</a:t>
            </a:r>
            <a:r>
              <a:rPr lang="en-US" sz="950" dirty="0" smtClean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 (</a:t>
            </a:r>
            <a:r>
              <a:rPr lang="en-US" sz="950" dirty="0" err="1" smtClean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формат</a:t>
            </a:r>
            <a:r>
              <a:rPr lang="en-US" sz="950" dirty="0" smtClean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 и </a:t>
            </a:r>
            <a:r>
              <a:rPr lang="en-US" sz="950" dirty="0" err="1" smtClean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размер</a:t>
            </a:r>
            <a:r>
              <a:rPr lang="en-US" sz="950" dirty="0" smtClean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). </a:t>
            </a:r>
            <a:r>
              <a:rPr lang="en-US" sz="950" dirty="0" err="1" smtClean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Также</a:t>
            </a:r>
            <a:r>
              <a:rPr lang="en-US" sz="950" dirty="0" smtClean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 </a:t>
            </a:r>
            <a:r>
              <a:rPr lang="en-US" sz="950" dirty="0" err="1" smtClean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доступны</a:t>
            </a:r>
            <a:r>
              <a:rPr lang="en-US" sz="950" dirty="0" smtClean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 </a:t>
            </a:r>
            <a:r>
              <a:rPr lang="en-US" sz="950" dirty="0" err="1" smtClean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действия</a:t>
            </a:r>
            <a:r>
              <a:rPr lang="en-US" sz="950" dirty="0" smtClean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: «+ Add to Playlist» и «Download».</a:t>
            </a:r>
            <a:endParaRPr lang="en-US" sz="950" dirty="0" smtClean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950" dirty="0" err="1" smtClean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Сетка</a:t>
            </a:r>
            <a:r>
              <a:rPr lang="en-US" sz="950" dirty="0" smtClean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 </a:t>
            </a:r>
            <a:r>
              <a:rPr lang="en-US" sz="950" dirty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карточек: CSS Grid с </a:t>
            </a:r>
            <a:r>
              <a:rPr lang="en-US" sz="950" dirty="0">
                <a:solidFill>
                  <a:srgbClr val="DAD1E6"/>
                </a:solidFill>
                <a:highlight>
                  <a:srgbClr val="31233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auto-fill</a:t>
            </a:r>
            <a:r>
              <a:rPr lang="en-US" sz="950" dirty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 и </a:t>
            </a:r>
            <a:r>
              <a:rPr lang="en-US" sz="950" dirty="0">
                <a:solidFill>
                  <a:srgbClr val="DAD1E6"/>
                </a:solidFill>
                <a:highlight>
                  <a:srgbClr val="31233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minmax(280px, 1fr)</a:t>
            </a:r>
            <a:r>
              <a:rPr lang="en-US" sz="950" dirty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 для адаптивности, gap 25px. Карточка имеет тень, скругления и анимацию при наведении: подъем и усиление тени; изображение масштабируется, появляется затемнение и центральная розовая круглая кнопка воспроизведения.</a:t>
            </a:r>
            <a:endParaRPr lang="en-US" sz="9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119" y="2522786"/>
            <a:ext cx="1860649" cy="186064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511772" y="2522786"/>
            <a:ext cx="155056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DAD1E6"/>
                </a:solidFill>
                <a:latin typeface="Inconsolata Bold" panose="00000509000000000000" pitchFamily="49" charset="0"/>
                <a:ea typeface="SimSun" panose="02010600030101010101" pitchFamily="2" charset="-122"/>
                <a:cs typeface="Inconsolata Bold" pitchFamily="34" charset="-120"/>
              </a:rPr>
              <a:t>Boosted — DJ Boost</a:t>
            </a:r>
            <a:endParaRPr lang="en-US" sz="1200" dirty="0">
              <a:latin typeface="Inconsolata Bold" panose="00000509000000000000" pitchFamily="49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2511772" y="2791048"/>
            <a:ext cx="6136109" cy="1984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950" dirty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4:03 • MP3 • 3.5 MB — кнопки: Add to Playlist, Download.</a:t>
            </a:r>
            <a:endParaRPr lang="en-US" sz="950" dirty="0"/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8055429" y="4883020"/>
            <a:ext cx="1007706" cy="192833"/>
          </a:xfrm>
          <a:prstGeom prst="roundRect">
            <a:avLst/>
          </a:prstGeom>
          <a:solidFill>
            <a:srgbClr val="241631"/>
          </a:solidFill>
          <a:ln>
            <a:solidFill>
              <a:srgbClr val="24163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1567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2325812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4500" y="1015231"/>
            <a:ext cx="5715000" cy="295275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96119" y="3150171"/>
            <a:ext cx="7031757" cy="387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50"/>
              </a:lnSpc>
              <a:buNone/>
            </a:pPr>
            <a:r>
              <a:rPr lang="en-US" sz="2400" b="1" dirty="0">
                <a:solidFill>
                  <a:srgbClr val="F94CAF"/>
                </a:solidFill>
                <a:latin typeface="Inconsolata Bold" panose="00000509000000000000" pitchFamily="49" charset="0"/>
                <a:ea typeface="SimSun" panose="02010600030101010101" pitchFamily="2" charset="-122"/>
                <a:cs typeface="Inconsolata Bold" pitchFamily="34" charset="-120"/>
              </a:rPr>
              <a:t>Аудиоплеер — интерфейс текущего трека</a:t>
            </a:r>
            <a:endParaRPr lang="en-US" sz="2400" dirty="0">
              <a:latin typeface="Inconsolata Bold" panose="00000509000000000000" pitchFamily="49" charset="0"/>
            </a:endParaRPr>
          </a:p>
        </p:txBody>
      </p:sp>
      <p:sp>
        <p:nvSpPr>
          <p:cNvPr id="5" name="Text 1"/>
          <p:cNvSpPr/>
          <p:nvPr/>
        </p:nvSpPr>
        <p:spPr>
          <a:xfrm>
            <a:off x="496119" y="3723754"/>
            <a:ext cx="8151763" cy="5953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950" dirty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Блок «Now playing» отображает обложку, название и исполнителя текущего трека. Управление: shuffle, previous, play/pause, next, repeat; прогресс-бар с текущим временем и общей длительностью; кнопки Add to Playlist и Download. Также есть регулятор громкости со значком и слайдером.</a:t>
            </a:r>
            <a:endParaRPr lang="en-US" sz="950" dirty="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8055429" y="4883020"/>
            <a:ext cx="1007706" cy="192833"/>
          </a:xfrm>
          <a:prstGeom prst="roundRect">
            <a:avLst/>
          </a:prstGeom>
          <a:solidFill>
            <a:srgbClr val="241631"/>
          </a:solidFill>
          <a:ln>
            <a:solidFill>
              <a:srgbClr val="24163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2196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1422797"/>
            <a:ext cx="7748067" cy="387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50"/>
              </a:lnSpc>
              <a:buNone/>
            </a:pPr>
            <a:r>
              <a:rPr lang="en-US" sz="2400" b="1" dirty="0">
                <a:solidFill>
                  <a:srgbClr val="F94CAF"/>
                </a:solidFill>
                <a:latin typeface="Inconsolata Bold" panose="00000509000000000000" pitchFamily="49" charset="0"/>
                <a:ea typeface="SimSun" panose="02010600030101010101" pitchFamily="2" charset="-122"/>
                <a:cs typeface="Inconsolata Bold" pitchFamily="34" charset="-120"/>
              </a:rPr>
              <a:t>Аудиоплеер — данные и управление треками</a:t>
            </a:r>
            <a:endParaRPr lang="en-US" sz="2400" dirty="0">
              <a:latin typeface="Inconsolata Bold" panose="00000509000000000000" pitchFamily="49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96119" y="2058367"/>
            <a:ext cx="8151763" cy="60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950" dirty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Создаётся объект </a:t>
            </a:r>
            <a:r>
              <a:rPr lang="en-US" sz="950" dirty="0">
                <a:solidFill>
                  <a:srgbClr val="DAD1E6"/>
                </a:solidFill>
                <a:highlight>
                  <a:srgbClr val="31233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audio = new Audio()</a:t>
            </a:r>
            <a:r>
              <a:rPr lang="en-US" sz="950" dirty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 и массив </a:t>
            </a:r>
            <a:r>
              <a:rPr lang="en-US" sz="950" dirty="0">
                <a:solidFill>
                  <a:srgbClr val="DAD1E6"/>
                </a:solidFill>
                <a:highlight>
                  <a:srgbClr val="31233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tracks</a:t>
            </a:r>
            <a:r>
              <a:rPr lang="en-US" sz="950" dirty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 с объектами: </a:t>
            </a:r>
            <a:r>
              <a:rPr lang="en-US" sz="950" dirty="0">
                <a:solidFill>
                  <a:srgbClr val="DAD1E6"/>
                </a:solidFill>
                <a:highlight>
                  <a:srgbClr val="31233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{title, artist, cover, file, duration}</a:t>
            </a:r>
            <a:r>
              <a:rPr lang="en-US" sz="950" dirty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. Переменная </a:t>
            </a:r>
            <a:r>
              <a:rPr lang="en-US" sz="950" dirty="0">
                <a:solidFill>
                  <a:srgbClr val="DAD1E6"/>
                </a:solidFill>
                <a:highlight>
                  <a:srgbClr val="31233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currentTrackIndex</a:t>
            </a:r>
            <a:r>
              <a:rPr lang="en-US" sz="950" dirty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 указывает активный трек. Функция </a:t>
            </a:r>
            <a:r>
              <a:rPr lang="en-US" sz="950" dirty="0">
                <a:solidFill>
                  <a:srgbClr val="DAD1E6"/>
                </a:solidFill>
                <a:highlight>
                  <a:srgbClr val="31233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playCurrentTrack()</a:t>
            </a:r>
            <a:r>
              <a:rPr lang="en-US" sz="950" dirty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 загружает метаданные в интерфейс, назначает </a:t>
            </a:r>
            <a:r>
              <a:rPr lang="en-US" sz="950" dirty="0">
                <a:solidFill>
                  <a:srgbClr val="DAD1E6"/>
                </a:solidFill>
                <a:highlight>
                  <a:srgbClr val="31233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audio.src</a:t>
            </a:r>
            <a:r>
              <a:rPr lang="en-US" sz="950" dirty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 и вызывает воспроизведение.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96119" y="2802806"/>
            <a:ext cx="4013895" cy="917897"/>
          </a:xfrm>
          <a:prstGeom prst="roundRect">
            <a:avLst>
              <a:gd name="adj" fmla="val 2027"/>
            </a:avLst>
          </a:prstGeom>
          <a:solidFill>
            <a:srgbClr val="433550"/>
          </a:solidFill>
          <a:ln/>
        </p:spPr>
      </p:sp>
      <p:sp>
        <p:nvSpPr>
          <p:cNvPr id="5" name="Text 3"/>
          <p:cNvSpPr/>
          <p:nvPr/>
        </p:nvSpPr>
        <p:spPr>
          <a:xfrm>
            <a:off x="620092" y="2926779"/>
            <a:ext cx="155056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DAD1E6"/>
                </a:solidFill>
                <a:latin typeface="Inconsolata Bold" panose="00000509000000000000" pitchFamily="49" charset="0"/>
                <a:ea typeface="SimSun" panose="02010600030101010101" pitchFamily="2" charset="-122"/>
                <a:cs typeface="Inconsolata Bold" pitchFamily="34" charset="-120"/>
              </a:rPr>
              <a:t>Структура трека</a:t>
            </a:r>
            <a:endParaRPr lang="en-US" sz="1200" dirty="0">
              <a:latin typeface="Inconsolata Bold" panose="00000509000000000000" pitchFamily="49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620092" y="3195042"/>
            <a:ext cx="3765947" cy="203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950" dirty="0">
                <a:solidFill>
                  <a:srgbClr val="DAD1E6"/>
                </a:solidFill>
                <a:highlight>
                  <a:srgbClr val="31233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title, artist, cover, file, duration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633987" y="2802806"/>
            <a:ext cx="4013895" cy="917897"/>
          </a:xfrm>
          <a:prstGeom prst="roundRect">
            <a:avLst>
              <a:gd name="adj" fmla="val 2027"/>
            </a:avLst>
          </a:prstGeom>
          <a:solidFill>
            <a:srgbClr val="433550"/>
          </a:solidFill>
          <a:ln/>
        </p:spPr>
      </p:sp>
      <p:sp>
        <p:nvSpPr>
          <p:cNvPr id="8" name="Text 6"/>
          <p:cNvSpPr/>
          <p:nvPr/>
        </p:nvSpPr>
        <p:spPr>
          <a:xfrm>
            <a:off x="4757961" y="2926779"/>
            <a:ext cx="155056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DAD1E6"/>
                </a:solidFill>
                <a:latin typeface="Inconsolata Bold" panose="00000509000000000000" pitchFamily="49" charset="0"/>
                <a:ea typeface="SimSun" panose="02010600030101010101" pitchFamily="2" charset="-122"/>
                <a:cs typeface="Inconsolata Bold" pitchFamily="34" charset="-120"/>
              </a:rPr>
              <a:t>Загрузка трека</a:t>
            </a:r>
            <a:endParaRPr lang="en-US" sz="1200" dirty="0">
              <a:latin typeface="Inconsolata Bold" panose="00000509000000000000" pitchFamily="49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4757961" y="3195042"/>
            <a:ext cx="3765947" cy="4016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950" dirty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Обновление обложки, названия, артиста и присвоение </a:t>
            </a:r>
            <a:r>
              <a:rPr lang="en-US" sz="950" dirty="0">
                <a:solidFill>
                  <a:srgbClr val="DAD1E6"/>
                </a:solidFill>
                <a:highlight>
                  <a:srgbClr val="31233E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audio.src</a:t>
            </a:r>
            <a:r>
              <a:rPr lang="en-US" sz="950" dirty="0">
                <a:solidFill>
                  <a:srgbClr val="DAD1E6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.</a:t>
            </a:r>
            <a:endParaRPr lang="en-US" sz="950" dirty="0"/>
          </a:p>
        </p:txBody>
      </p:sp>
      <p:sp>
        <p:nvSpPr>
          <p:cNvPr id="10" name="Скругленный прямоугольник 9"/>
          <p:cNvSpPr/>
          <p:nvPr/>
        </p:nvSpPr>
        <p:spPr>
          <a:xfrm>
            <a:off x="8055429" y="4883020"/>
            <a:ext cx="1007706" cy="192833"/>
          </a:xfrm>
          <a:prstGeom prst="roundRect">
            <a:avLst/>
          </a:prstGeom>
          <a:solidFill>
            <a:srgbClr val="241631"/>
          </a:solidFill>
          <a:ln>
            <a:solidFill>
              <a:srgbClr val="24163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08026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700</Words>
  <Application>Microsoft Office PowerPoint</Application>
  <PresentationFormat>Экран (16:9)</PresentationFormat>
  <Paragraphs>42</Paragraphs>
  <Slides>9</Slides>
  <Notes>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6" baseType="lpstr">
      <vt:lpstr>Fira Sans</vt:lpstr>
      <vt:lpstr>Calibri</vt:lpstr>
      <vt:lpstr>Inconsolata Bold</vt:lpstr>
      <vt:lpstr>SimSun</vt:lpstr>
      <vt:lpstr>Consolas</vt:lpstr>
      <vt:lpstr>Arial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lastModifiedBy>Coshgun Safarov</cp:lastModifiedBy>
  <cp:revision>9</cp:revision>
  <dcterms:created xsi:type="dcterms:W3CDTF">2026-05-09T09:19:19Z</dcterms:created>
  <dcterms:modified xsi:type="dcterms:W3CDTF">2026-05-10T16:29:00Z</dcterms:modified>
</cp:coreProperties>
</file>
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9144000" cy="5143500" type="screen16x9"/>
  <p:notesSz cx="5143500" cy="9144000"/>
  <p:embeddedFontLst>
    <p:embeddedFont>
      <p:font typeface="Calibri Light" panose="020F0302020204030204" pitchFamily="34" charset="0"/>
      <p:regular r:id="rId11"/>
      <p: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SimSun" panose="02010600030101010101" pitchFamily="2" charset="-122"/>
      <p:regular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consolata Bold" panose="00000509000000000000" pitchFamily="49" charset="0"/>
      <p:bold r:id="rId22"/>
    </p:embeddedFont>
    <p:embeddedFont>
      <p:font typeface="Fira San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16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37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34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07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36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83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indexprofile.html" TargetMode="External"/><Relationship Id="rId3" Type="http://schemas.openxmlformats.org/officeDocument/2006/relationships/image" Target="../media/image8.png"/><Relationship Id="rId7" Type="http://schemas.openxmlformats.org/officeDocument/2006/relationships/hyperlink" Target="indexupload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indexlibrary.html" TargetMode="External"/><Relationship Id="rId5" Type="http://schemas.openxmlformats.org/officeDocument/2006/relationships/hyperlink" Target="index.html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92987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Введение в Web и Web‑серверы</a:t>
            </a:r>
            <a:endParaRPr lang="en-US" sz="240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891010"/>
            <a:ext cx="472276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Вся информация в Интернете хранится на специальных компьютерах — Web‑серверах, которые обрабатывают запросы и передают содержимое пользователям. Основная форма представления — Web‑сайты с уникальными доменными именами и URL. Сайт состоит из взаимосвязанных Web‑страниц, обычно HTML‑файлов (.htm/.html), содержащих структуру и инструкции для отображения: текст, изображения, таблицы, списки и элементы интерфейса.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3221310"/>
            <a:ext cx="472276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Мультимедиа (изображения, видео, аудио) подключается к HTML через ссылки. Для просмотра сайтов используются браузеры — программы, интерпретирующие HTML и отображающие контент. Чтобы открыть сайт, вводят его адрес в адресной строке браузера, после чего страница загружается с сервера.</a:t>
            </a:r>
            <a:endParaRPr lang="en-US" sz="95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055429" y="4883020"/>
            <a:ext cx="1007706" cy="192833"/>
          </a:xfrm>
          <a:prstGeom prst="roundRect">
            <a:avLst/>
          </a:prstGeom>
          <a:solidFill>
            <a:srgbClr val="241631"/>
          </a:solidFill>
          <a:ln>
            <a:solidFill>
              <a:srgbClr val="2416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94991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HTML — язык структуры Web‑страниц</a:t>
            </a:r>
            <a:endParaRPr lang="en-US" sz="240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556123"/>
            <a:ext cx="472276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 (HyperText Markup Language) — основной язык разметки для создания структуры Web‑страниц. Теги (например, &lt;h1&gt;, &lt;p&gt;, &lt;img&gt;) указывают браузеру, как отображать содержимое. HTML не содержит медиафайлов или стилей, а лишь ссылки на них, что делает файлы лёгкими и разделяет структуру, оформление и логику.</a:t>
            </a:r>
            <a:endParaRPr lang="en-US" sz="95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055429" y="4883020"/>
            <a:ext cx="1007706" cy="192833"/>
          </a:xfrm>
          <a:prstGeom prst="roundRect">
            <a:avLst/>
          </a:prstGeom>
          <a:solidFill>
            <a:srgbClr val="241631"/>
          </a:solidFill>
          <a:ln>
            <a:solidFill>
              <a:srgbClr val="2416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9652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CSS — оформление и адаптивность</a:t>
            </a:r>
            <a:endParaRPr lang="en-US" sz="240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357661"/>
            <a:ext cx="472276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CSS (Cascading Style Sheets) описывает внешний вид HTML: цвета, шрифты, отступы, выравнивание, позиционирование и анимации. Стили подключаются тремя способами: внешние .css файлы (наиболее распространённый), внутренние &lt;style&gt; в &lt;head&gt; и встроенные атрибуты style. Каскадность означает, что при совпадении правил приоритет имеет последнее или ближе расположенное правило. Селекторы, псевдоклассы и медиазапросы позволяют создавать адаптивный дизайн.</a:t>
            </a:r>
            <a:endParaRPr lang="en-US" sz="95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055429" y="4883020"/>
            <a:ext cx="1007706" cy="192833"/>
          </a:xfrm>
          <a:prstGeom prst="roundRect">
            <a:avLst/>
          </a:prstGeom>
          <a:solidFill>
            <a:srgbClr val="241631"/>
          </a:solidFill>
          <a:ln>
            <a:solidFill>
              <a:srgbClr val="2416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12557" y="2697559"/>
            <a:ext cx="365760" cy="36576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3061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Ajax и JavaScript — интерактивность без перезагрузки</a:t>
            </a:r>
            <a:endParaRPr lang="en-US" sz="240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1791742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Ajax (Asynchronous JavaScript and XML) позволяет обмениваться данными с сервером асинхронно, без полной перезагрузки страницы — это улучшает UX и снижает нагрузку на сервер. Ответы часто приходят в формате JSON и встраиваются в страницу с помощью JavaScript.</a:t>
            </a:r>
            <a:endParaRPr lang="en-US" sz="95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97280" y="3595495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90206" y="272511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SimSun" panose="02010600030101010101" pitchFamily="2" charset="-122"/>
                <a:ea typeface="SimSun" panose="02010600030101010101" pitchFamily="2" charset="-122"/>
                <a:cs typeface="Inconsolata Bold" pitchFamily="34" charset="-120"/>
              </a:rPr>
              <a:t>Применения Ajax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390206" y="2993380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Автозаполнение форм, поиск и фильтрация без перезагрузки, обновление частей страницы (чаты, ленты новостей).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4390206" y="36383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SimSun" panose="02010600030101010101" pitchFamily="2" charset="-122"/>
                <a:ea typeface="SimSun" panose="02010600030101010101" pitchFamily="2" charset="-122"/>
                <a:cs typeface="Inconsolata Bold" pitchFamily="34" charset="-120"/>
              </a:rPr>
              <a:t>Роль JavaScript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390206" y="3906589"/>
            <a:ext cx="425767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JavaScript делает страницы интерактивными: изменяет DOM, обрабатывает события, проверяет формы, выполняет анимации и работает с API через Ajax. Поддерживает ООП и расширяется библиотеками и фреймворками.</a:t>
            </a:r>
            <a:endParaRPr lang="en-US" sz="950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055429" y="4883020"/>
            <a:ext cx="1007706" cy="192833"/>
          </a:xfrm>
          <a:prstGeom prst="roundRect">
            <a:avLst/>
          </a:prstGeom>
          <a:solidFill>
            <a:srgbClr val="241631"/>
          </a:solidFill>
          <a:ln>
            <a:solidFill>
              <a:srgbClr val="2416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7524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209029"/>
            <a:ext cx="5715000" cy="357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2106662"/>
            <a:ext cx="749334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MusicHub — структура заголовка и навигации</a:t>
            </a:r>
            <a:endParaRPr lang="en-US" sz="2400" dirty="0">
              <a:latin typeface="+mj-lt"/>
            </a:endParaRPr>
          </a:p>
        </p:txBody>
      </p:sp>
      <p:sp>
        <p:nvSpPr>
          <p:cNvPr id="5" name="Text 1"/>
          <p:cNvSpPr/>
          <p:nvPr/>
        </p:nvSpPr>
        <p:spPr>
          <a:xfrm>
            <a:off x="496119" y="2680246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 заголовке сайта создаются ключевые элементы: кликабельный логотип </a:t>
            </a:r>
            <a:r>
              <a:rPr lang="en-US" sz="950" u="sng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MusicHub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строка поиска с полем ввода и кнопкой (с иконкой поиска), а также блок навигационных ссылок: </a:t>
            </a:r>
            <a:r>
              <a:rPr lang="en-US" sz="950" u="sng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Home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950" u="sng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Library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950" u="sng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Upload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950" u="sng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Profile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Эти элементы формируют основную навигацию и доступность сайта.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496119" y="341515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Изображение выше иллюстрирует желаемую визуальную иерархию: логотип слева, крупная округлая поисковая строка по центру и навигация справа — всё в фирменной фиолетово-розовой палитре.</a:t>
            </a:r>
            <a:endParaRPr lang="en-US" sz="95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055429" y="4883020"/>
            <a:ext cx="1007706" cy="192833"/>
          </a:xfrm>
          <a:prstGeom prst="roundRect">
            <a:avLst/>
          </a:prstGeom>
          <a:solidFill>
            <a:srgbClr val="241631"/>
          </a:solidFill>
          <a:ln>
            <a:solidFill>
              <a:srgbClr val="2416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7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9991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Карточки — визуальные и анимационные приёмы</a:t>
            </a:r>
            <a:endParaRPr lang="en-US" sz="24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8" y="1198392"/>
            <a:ext cx="8151763" cy="105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Каждая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карточка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трека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содержит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обложку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полупрозрачный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overlay с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кнопкой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воспроизведения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заголовок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трека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имя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исполнителя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длительность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метаданные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файла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формат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размер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).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Также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доступны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действия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«+ Add to Playlist» и «Download».</a:t>
            </a:r>
            <a:endParaRPr lang="en-US" sz="950" dirty="0" smtClean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 err="1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Сетка</a:t>
            </a:r>
            <a:r>
              <a:rPr lang="en-US" sz="950" dirty="0" smtClean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карточек: CSS Grid с </a:t>
            </a: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auto-fill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 </a:t>
            </a: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minmax(280px, 1fr)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для адаптивности, gap 25px. Карточка имеет тень, скругления и анимацию при наведении: подъем и усиление тени; изображение масштабируется, появляется затемнение и центральная розовая круглая кнопка воспроизведения.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22786"/>
            <a:ext cx="1860649" cy="18606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1772" y="252278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Boosted — DJ Boost</a:t>
            </a:r>
            <a:endParaRPr lang="en-US" sz="12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11772" y="2791048"/>
            <a:ext cx="6136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4:03 • MP3 • 3.5 MB — кнопки: Add to Playlist, Download.</a:t>
            </a:r>
            <a:endParaRPr lang="en-US" sz="95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055429" y="4883020"/>
            <a:ext cx="1007706" cy="192833"/>
          </a:xfrm>
          <a:prstGeom prst="roundRect">
            <a:avLst/>
          </a:prstGeom>
          <a:solidFill>
            <a:srgbClr val="241631"/>
          </a:solidFill>
          <a:ln>
            <a:solidFill>
              <a:srgbClr val="2416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5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32581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1015231"/>
            <a:ext cx="5715000" cy="2952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3150171"/>
            <a:ext cx="703175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Аудиоплеер — интерфейс текущего трека</a:t>
            </a:r>
            <a:endParaRPr lang="en-US" sz="2400" dirty="0">
              <a:latin typeface="+mj-lt"/>
            </a:endParaRPr>
          </a:p>
        </p:txBody>
      </p:sp>
      <p:sp>
        <p:nvSpPr>
          <p:cNvPr id="5" name="Text 1"/>
          <p:cNvSpPr/>
          <p:nvPr/>
        </p:nvSpPr>
        <p:spPr>
          <a:xfrm>
            <a:off x="496119" y="3723754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Блок «Now playing» отображает обложку, название и исполнителя текущего трека. Управление: shuffle, previous, play/pause, next, repeat; прогресс-бар с текущим временем и общей длительностью; кнопки Add to Playlist и Download. Также есть регулятор громкости со значком и слайдером.</a:t>
            </a:r>
            <a:endParaRPr lang="en-US" sz="95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055429" y="4883020"/>
            <a:ext cx="1007706" cy="192833"/>
          </a:xfrm>
          <a:prstGeom prst="roundRect">
            <a:avLst/>
          </a:prstGeom>
          <a:solidFill>
            <a:srgbClr val="241631"/>
          </a:solidFill>
          <a:ln>
            <a:solidFill>
              <a:srgbClr val="2416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1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22797"/>
            <a:ext cx="774806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Аудиоплеер — данные и управление треками</a:t>
            </a:r>
            <a:endParaRPr lang="en-US" sz="24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058367"/>
            <a:ext cx="8151763" cy="60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Создаётся объект </a:t>
            </a: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audio = new Audio()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 массив </a:t>
            </a: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tracks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с объектами: </a:t>
            </a: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{title, artist, cover, file, duration}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Переменная </a:t>
            </a: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currentTrackIndex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указывает активный трек. Функция </a:t>
            </a: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playCurrentTrack()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загружает метаданные в интерфейс, назначает </a:t>
            </a: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audio.src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и вызывает воспроизведение.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802806"/>
            <a:ext cx="4013895" cy="917897"/>
          </a:xfrm>
          <a:prstGeom prst="roundRect">
            <a:avLst>
              <a:gd name="adj" fmla="val 2027"/>
            </a:avLst>
          </a:prstGeom>
          <a:solidFill>
            <a:srgbClr val="433550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292677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Структура трека</a:t>
            </a:r>
            <a:endParaRPr lang="en-US" sz="12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0092" y="3195042"/>
            <a:ext cx="3765947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title, artist, cover, file, duration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2802806"/>
            <a:ext cx="4013895" cy="917897"/>
          </a:xfrm>
          <a:prstGeom prst="roundRect">
            <a:avLst>
              <a:gd name="adj" fmla="val 2027"/>
            </a:avLst>
          </a:prstGeom>
          <a:solidFill>
            <a:srgbClr val="433550"/>
          </a:solidFill>
          <a:ln/>
        </p:spPr>
      </p:sp>
      <p:sp>
        <p:nvSpPr>
          <p:cNvPr id="8" name="Text 6"/>
          <p:cNvSpPr/>
          <p:nvPr/>
        </p:nvSpPr>
        <p:spPr>
          <a:xfrm>
            <a:off x="4757961" y="292677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+mj-lt"/>
                <a:ea typeface="SimSun" panose="02010600030101010101" pitchFamily="2" charset="-122"/>
                <a:cs typeface="Inconsolata Bold" pitchFamily="34" charset="-120"/>
              </a:rPr>
              <a:t>Загрузка трека</a:t>
            </a:r>
            <a:endParaRPr lang="en-US" sz="12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7961" y="3195042"/>
            <a:ext cx="376594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Обновление обложки, названия, артиста и присвоение </a:t>
            </a:r>
            <a:r>
              <a:rPr lang="en-US" sz="9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audio.src</a:t>
            </a: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950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055429" y="4883020"/>
            <a:ext cx="1007706" cy="192833"/>
          </a:xfrm>
          <a:prstGeom prst="roundRect">
            <a:avLst/>
          </a:prstGeom>
          <a:solidFill>
            <a:srgbClr val="241631"/>
          </a:solidFill>
          <a:ln>
            <a:solidFill>
              <a:srgbClr val="2416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02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684</Words>
  <Application>Microsoft Office PowerPoint</Application>
  <PresentationFormat>Экран (16:9)</PresentationFormat>
  <Paragraphs>37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Calibri Light</vt:lpstr>
      <vt:lpstr>Calibri</vt:lpstr>
      <vt:lpstr>SimSun</vt:lpstr>
      <vt:lpstr>Consolas</vt:lpstr>
      <vt:lpstr>Arial</vt:lpstr>
      <vt:lpstr>Inconsolata Bold</vt:lpstr>
      <vt:lpstr>Fira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Coshgun Safarov</cp:lastModifiedBy>
  <cp:revision>6</cp:revision>
  <dcterms:created xsi:type="dcterms:W3CDTF">2026-05-09T09:19:19Z</dcterms:created>
  <dcterms:modified xsi:type="dcterms:W3CDTF">2026-05-09T10:04:16Z</dcterms:modified>
</cp:coreProperties>
</file>